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Building the Financial Identity Layer for the Next Billion</a:t>
            </a:r>
          </a:p>
          <a:p>
            <a:pPr>
              <a:defRPr sz="2000"/>
            </a:pPr>
            <a:r>
              <a:t>AI Financial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190M+ adults remain credit-invisible in India.</a:t>
            </a:r>
          </a:p>
          <a:p>
            <a:pPr>
              <a:defRPr sz="2000"/>
            </a:pPr>
            <a:r>
              <a:t>• Traditional credit ignores digital financial behaviour.</a:t>
            </a:r>
          </a:p>
          <a:p>
            <a:pPr>
              <a:defRPr sz="2000"/>
            </a:pPr>
            <a:r>
              <a:t>• First-time investors lack trusted guidance.</a:t>
            </a:r>
          </a:p>
          <a:p>
            <a:pPr>
              <a:defRPr sz="2000"/>
            </a:pPr>
            <a:r>
              <a:t>• Small-ticket investors face complexity and information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UPI and digital payments create rich behavioural data.</a:t>
            </a:r>
          </a:p>
          <a:p>
            <a:pPr>
              <a:defRPr sz="2000"/>
            </a:pPr>
            <a:r>
              <a:t>• Explainable AI enables transparent decisions.</a:t>
            </a:r>
          </a:p>
          <a:p>
            <a:pPr>
              <a:defRPr sz="2000"/>
            </a:pPr>
            <a:r>
              <a:t>• Inclusive finance is accelerating.</a:t>
            </a:r>
          </a:p>
          <a:p>
            <a:pPr>
              <a:defRPr sz="2000"/>
            </a:pPr>
            <a:r>
              <a:t>• Demand for personalized finance is rising.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One AI platform converts alternative financial signals into explainable credit scores, personalized investment guidance, and trusted lending opportunities.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Workflow:</a:t>
            </a:r>
          </a:p>
          <a:p>
            <a:pPr>
              <a:defRPr sz="2000"/>
            </a:pPr>
            <a:r>
              <a:t>Behaviour → Feature Engineering → AI Models → Credit Score + Risk Profile → Investment Advice → Marketplace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Create profile</a:t>
            </a:r>
          </a:p>
          <a:p>
            <a:pPr>
              <a:defRPr sz="2000"/>
            </a:pPr>
            <a:r>
              <a:t>2. Connect financial behaviour</a:t>
            </a:r>
          </a:p>
          <a:p>
            <a:pPr>
              <a:defRPr sz="2000"/>
            </a:pPr>
            <a:r>
              <a:t>3. AI generates explainable score</a:t>
            </a:r>
          </a:p>
          <a:p>
            <a:pPr>
              <a:defRPr sz="2000"/>
            </a:pPr>
            <a:r>
              <a:t>4. Complete risk assessment</a:t>
            </a:r>
          </a:p>
          <a:p>
            <a:pPr>
              <a:defRPr sz="2000"/>
            </a:pPr>
            <a:r>
              <a:t>5. Receive investment plan</a:t>
            </a:r>
          </a:p>
          <a:p>
            <a:pPr>
              <a:defRPr sz="2000"/>
            </a:pPr>
            <a:r>
              <a:t>6. Discover lending opportunities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Explainable AI Credit Score</a:t>
            </a:r>
          </a:p>
          <a:p>
            <a:pPr>
              <a:defRPr sz="2000"/>
            </a:pPr>
            <a:r>
              <a:t>• Conversational Risk Profiling</a:t>
            </a:r>
          </a:p>
          <a:p>
            <a:pPr>
              <a:defRPr sz="2000"/>
            </a:pPr>
            <a:r>
              <a:t>• Micro-Investment Advisor</a:t>
            </a:r>
          </a:p>
          <a:p>
            <a:pPr>
              <a:defRPr sz="2000"/>
            </a:pPr>
            <a:r>
              <a:t>• Growth Projection Engine</a:t>
            </a:r>
          </a:p>
          <a:p>
            <a:pPr>
              <a:defRPr sz="2000"/>
            </a:pPr>
            <a:r>
              <a:t>• Financial Health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Alternative data engine</a:t>
            </a:r>
          </a:p>
          <a:p>
            <a:pPr>
              <a:defRPr sz="2000"/>
            </a:pPr>
            <a:r>
              <a:t>• Feature engineering pipeline</a:t>
            </a:r>
          </a:p>
          <a:p>
            <a:pPr>
              <a:defRPr sz="2000"/>
            </a:pPr>
            <a:r>
              <a:t>• SHAP/LIME explainability</a:t>
            </a:r>
          </a:p>
          <a:p>
            <a:pPr>
              <a:defRPr sz="2000"/>
            </a:pPr>
            <a:r>
              <a:t>• Continuous learning</a:t>
            </a:r>
          </a:p>
          <a:p>
            <a:pPr>
              <a:defRPr sz="2000"/>
            </a:pPr>
            <a:r>
              <a:t>• Marketplace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TAM: Digital Financial Services</a:t>
            </a:r>
          </a:p>
          <a:p>
            <a:pPr>
              <a:defRPr sz="2000"/>
            </a:pPr>
            <a:r>
              <a:t>SAM: Alternative Credit + Retail Investing</a:t>
            </a:r>
          </a:p>
          <a:p>
            <a:pPr>
              <a:defRPr sz="2000"/>
            </a:pPr>
            <a:r>
              <a:t>SOM: Credit-Invisible &amp; First-Time Investors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Premium AI insights</a:t>
            </a:r>
          </a:p>
          <a:p>
            <a:pPr>
              <a:defRPr sz="2000"/>
            </a:pPr>
            <a:r>
              <a:t>• Lending marketplace fees</a:t>
            </a:r>
          </a:p>
          <a:p>
            <a:pPr>
              <a:defRPr sz="2000"/>
            </a:pPr>
            <a:r>
              <a:t>• Financial institution APIs</a:t>
            </a:r>
          </a:p>
          <a:p>
            <a:pPr>
              <a:defRPr sz="2000"/>
            </a:pPr>
            <a:r>
              <a:t>• Referral commissions</a:t>
            </a:r>
          </a:p>
          <a:p>
            <a:pPr>
              <a:defRPr sz="2000"/>
            </a:pPr>
            <a:r>
              <a:t>• Enterprise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Differentiate on:</a:t>
            </a:r>
          </a:p>
          <a:p>
            <a:pPr>
              <a:defRPr sz="2000"/>
            </a:pPr>
            <a:r>
              <a:t>• Alternative Data</a:t>
            </a:r>
          </a:p>
          <a:p>
            <a:pPr>
              <a:defRPr sz="2000"/>
            </a:pPr>
            <a:r>
              <a:t>• Explainability</a:t>
            </a:r>
          </a:p>
          <a:p>
            <a:pPr>
              <a:defRPr sz="2000"/>
            </a:pPr>
            <a:r>
              <a:t>• AI Recommendations</a:t>
            </a:r>
          </a:p>
          <a:p>
            <a:pPr>
              <a:defRPr sz="2000"/>
            </a:pPr>
            <a:r>
              <a:t>• Investment Guidance</a:t>
            </a:r>
          </a:p>
          <a:p>
            <a:pPr>
              <a:defRPr sz="2000"/>
            </a:pPr>
            <a:r>
              <a:t>• Marketplace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Tier-2/Tier-3 users</a:t>
            </a:r>
          </a:p>
          <a:p>
            <a:pPr>
              <a:defRPr sz="2000"/>
            </a:pPr>
            <a:r>
              <a:t>• Fintech partnerships</a:t>
            </a:r>
          </a:p>
          <a:p>
            <a:pPr>
              <a:defRPr sz="2000"/>
            </a:pPr>
            <a:r>
              <a:t>• Referral loops</a:t>
            </a:r>
          </a:p>
          <a:p>
            <a:pPr>
              <a:defRPr sz="2000"/>
            </a:pPr>
            <a:r>
              <a:t>• Embedded APIs</a:t>
            </a:r>
          </a:p>
          <a:p>
            <a:pPr>
              <a:defRPr sz="2000"/>
            </a:pPr>
            <a:r>
              <a:t>• Financial literacy programs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AI credit engine architecture</a:t>
            </a:r>
          </a:p>
          <a:p>
            <a:pPr>
              <a:defRPr sz="2000"/>
            </a:pPr>
            <a:r>
              <a:t>• Marketplace backend completed</a:t>
            </a:r>
          </a:p>
          <a:p>
            <a:pPr>
              <a:defRPr sz="2000"/>
            </a:pPr>
            <a:r>
              <a:t>• REST APIs</a:t>
            </a:r>
          </a:p>
          <a:p>
            <a:pPr>
              <a:defRPr sz="2000"/>
            </a:pPr>
            <a:r>
              <a:t>• Explainability framework</a:t>
            </a:r>
          </a:p>
          <a:p>
            <a:pPr>
              <a:defRPr sz="2000"/>
            </a:pPr>
            <a:r>
              <a:t>• Production-ready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Now: MVP</a:t>
            </a:r>
          </a:p>
          <a:p>
            <a:pPr>
              <a:defRPr sz="2000"/>
            </a:pPr>
            <a:r>
              <a:t>6 Months: AI scoring + advisor</a:t>
            </a:r>
          </a:p>
          <a:p>
            <a:pPr>
              <a:defRPr sz="2000"/>
            </a:pPr>
            <a:r>
              <a:t>12 Months: Lending ecosystem</a:t>
            </a:r>
          </a:p>
          <a:p>
            <a:pPr>
              <a:defRPr sz="2000"/>
            </a:pPr>
            <a:r>
              <a:t>24 Months: Financial identity platform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Full-stack engineering</a:t>
            </a:r>
          </a:p>
          <a:p>
            <a:pPr>
              <a:defRPr sz="2000"/>
            </a:pPr>
            <a:r>
              <a:t>• AI/ML expertise</a:t>
            </a:r>
          </a:p>
          <a:p>
            <a:pPr>
              <a:defRPr sz="2000"/>
            </a:pPr>
            <a:r>
              <a:t>• Explainable AI</a:t>
            </a:r>
          </a:p>
          <a:p>
            <a:pPr>
              <a:defRPr sz="2000"/>
            </a:pPr>
            <a:r>
              <a:t>• Scalable backend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7132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Every financially responsible person deserves access to opportunity—even without a traditional credit history.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Building the AI Financial Identity Layer for the Next Billion.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292608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Diagram / Chart /</a:t>
            </a:r>
          </a:p>
          <a:p>
            <a:pPr algn="ctr">
              <a:defRPr sz="2200"/>
            </a:pPr>
            <a:r>
              <a:t>Product Visual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